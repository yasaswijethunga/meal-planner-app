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21"/>
    <p:sldId id="271" r:id="rId2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58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-548640"/>
            <a:ext cx="2926080" cy="2926080"/>
          </a:xfrm>
          <a:prstGeom prst="ellipse">
            <a:avLst/>
          </a:prstGeom>
          <a:solidFill>
            <a:srgbClr val="97BC62">
              <a:alpha val="15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EcoPlate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Recipe &amp; Meal Planner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3.41  ·  Riverpod 3.x  ·  GoRouter  ·  TheMealDB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017520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TAMK × THWS Collaboration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 Wijethunga  ·  Waruna Bandara Rathnamalala  ·  Maha Maligaspe  ·  Noah Frei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4663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Applications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urpose and Why We Built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LeftBorde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"/>
          <p:cNvSpPr/>
          <p:nvPr/>
        </p:nvSpPr>
        <p:spPr>
          <a:xfrm>
            <a:off x="292608" y="137160"/>
            <a:ext cx="8600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</a:rPr>
              <a:t>Why EcoPlate?</a:t>
            </a:r>
          </a:p>
        </p:txBody>
      </p:sp>
      <p:sp>
        <p:nvSpPr>
          <p:cNvPr id="5" name="Card1Bg"/>
          <p:cNvSpPr/>
          <p:nvPr/>
        </p:nvSpPr>
        <p:spPr>
          <a:xfrm>
            <a:off x="274320" y="804672"/>
            <a:ext cx="2743200" cy="16459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Card1Accent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Card1Number"/>
          <p:cNvSpPr/>
          <p:nvPr/>
        </p:nvSpPr>
        <p:spPr>
          <a:xfrm>
            <a:off x="274320" y="877536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5F2D"/>
                </a:solidFill>
                <a:latin typeface="Calibri" pitchFamily="34" charset="0"/>
              </a:rPr>
              <a:t>26%</a:t>
            </a:r>
          </a:p>
        </p:txBody>
      </p:sp>
      <p:sp>
        <p:nvSpPr>
          <p:cNvPr id="8" name="Card1Text"/>
          <p:cNvSpPr/>
          <p:nvPr/>
        </p:nvSpPr>
        <p:spPr>
          <a:xfrm>
            <a:off x="274320" y="14261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of global CO₂ emissions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come from food production</a:t>
            </a:r>
          </a:p>
        </p:txBody>
      </p:sp>
      <p:sp>
        <p:nvSpPr>
          <p:cNvPr id="9" name="Card2Bg"/>
          <p:cNvSpPr/>
          <p:nvPr/>
        </p:nvSpPr>
        <p:spPr>
          <a:xfrm>
            <a:off x="3175200" y="804672"/>
            <a:ext cx="2743200" cy="16459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Card2Accent"/>
          <p:cNvSpPr/>
          <p:nvPr/>
        </p:nvSpPr>
        <p:spPr>
          <a:xfrm>
            <a:off x="3175200" y="804672"/>
            <a:ext cx="274320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Card2Number"/>
          <p:cNvSpPr/>
          <p:nvPr/>
        </p:nvSpPr>
        <p:spPr>
          <a:xfrm>
            <a:off x="3175200" y="877536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5F2D"/>
                </a:solidFill>
                <a:latin typeface="Calibri" pitchFamily="34" charset="0"/>
              </a:rPr>
              <a:t>60×</a:t>
            </a:r>
          </a:p>
        </p:txBody>
      </p:sp>
      <p:sp>
        <p:nvSpPr>
          <p:cNvPr id="12" name="Card2Text"/>
          <p:cNvSpPr/>
          <p:nvPr/>
        </p:nvSpPr>
        <p:spPr>
          <a:xfrm>
            <a:off x="3175200" y="14261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more emissions from beef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than plant-based foods</a:t>
            </a:r>
          </a:p>
        </p:txBody>
      </p:sp>
      <p:sp>
        <p:nvSpPr>
          <p:cNvPr id="13" name="Card3Bg"/>
          <p:cNvSpPr/>
          <p:nvPr/>
        </p:nvSpPr>
        <p:spPr>
          <a:xfrm>
            <a:off x="6027360" y="804672"/>
            <a:ext cx="2835360" cy="16459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3Accent"/>
          <p:cNvSpPr/>
          <p:nvPr/>
        </p:nvSpPr>
        <p:spPr>
          <a:xfrm>
            <a:off x="6027360" y="804672"/>
            <a:ext cx="283536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3Number"/>
          <p:cNvSpPr/>
          <p:nvPr/>
        </p:nvSpPr>
        <p:spPr>
          <a:xfrm>
            <a:off x="6027360" y="877536"/>
            <a:ext cx="283536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5F2D"/>
                </a:solidFill>
                <a:latin typeface="Calibri" pitchFamily="34" charset="0"/>
              </a:rPr>
              <a:t>73%</a:t>
            </a:r>
          </a:p>
        </p:txBody>
      </p:sp>
      <p:sp>
        <p:nvSpPr>
          <p:cNvPr id="16" name="Card3Text"/>
          <p:cNvSpPr/>
          <p:nvPr/>
        </p:nvSpPr>
        <p:spPr>
          <a:xfrm>
            <a:off x="6027360" y="1426176"/>
            <a:ext cx="2835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carbon footprint reduction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with plant-based diet</a:t>
            </a:r>
          </a:p>
        </p:txBody>
      </p:sp>
      <p:sp>
        <p:nvSpPr>
          <p:cNvPr id="17" name="SolutionBar"/>
          <p:cNvSpPr/>
          <p:nvPr/>
        </p:nvSpPr>
        <p:spPr>
          <a:xfrm>
            <a:off x="274320" y="2606400"/>
            <a:ext cx="8635680" cy="347472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SolutionText"/>
          <p:cNvSpPr/>
          <p:nvPr/>
        </p:nvSpPr>
        <p:spPr>
          <a:xfrm>
            <a:off x="274320" y="2606400"/>
            <a:ext cx="86356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Our Solution</a:t>
            </a:r>
          </a:p>
        </p:txBody>
      </p:sp>
      <p:sp>
        <p:nvSpPr>
          <p:cNvPr id="19" name="SolCardABg"/>
          <p:cNvSpPr/>
          <p:nvPr/>
        </p:nvSpPr>
        <p:spPr>
          <a:xfrm>
            <a:off x="274320" y="3062160"/>
            <a:ext cx="2697480" cy="19015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SolCardAEmoji"/>
          <p:cNvSpPr/>
          <p:nvPr/>
        </p:nvSpPr>
        <p:spPr>
          <a:xfrm>
            <a:off x="274320" y="31078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latin typeface="Segoe UI Emoji" pitchFamily="34" charset="0"/>
              </a:rPr>
              <a:t>🌿</a:t>
            </a:r>
          </a:p>
        </p:txBody>
      </p:sp>
      <p:sp>
        <p:nvSpPr>
          <p:cNvPr id="21" name="SolCardATitle"/>
          <p:cNvSpPr/>
          <p:nvPr/>
        </p:nvSpPr>
        <p:spPr>
          <a:xfrm>
            <a:off x="274320" y="3473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</a:rPr>
              <a:t>Eco Score System</a:t>
            </a:r>
          </a:p>
        </p:txBody>
      </p:sp>
      <p:sp>
        <p:nvSpPr>
          <p:cNvPr id="22" name="SolCardABody"/>
          <p:cNvSpPr/>
          <p:nvPr/>
        </p:nvSpPr>
        <p:spPr>
          <a:xfrm>
            <a:off x="274320" y="37479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</a:rPr>
              <a:t>Every recipe rated 1–5 based on environmental impact of its food category</a:t>
            </a:r>
          </a:p>
        </p:txBody>
      </p:sp>
      <p:sp>
        <p:nvSpPr>
          <p:cNvPr id="23" name="SolCardBBg"/>
          <p:cNvSpPr/>
          <p:nvPr/>
        </p:nvSpPr>
        <p:spPr>
          <a:xfrm>
            <a:off x="3175200" y="3062160"/>
            <a:ext cx="2697480" cy="19015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SolCardBEmoji"/>
          <p:cNvSpPr/>
          <p:nvPr/>
        </p:nvSpPr>
        <p:spPr>
          <a:xfrm>
            <a:off x="3175200" y="31078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latin typeface="Segoe UI Emoji" pitchFamily="34" charset="0"/>
              </a:rPr>
              <a:t>📅</a:t>
            </a:r>
          </a:p>
        </p:txBody>
      </p:sp>
      <p:sp>
        <p:nvSpPr>
          <p:cNvPr id="25" name="SolCardBTitle"/>
          <p:cNvSpPr/>
          <p:nvPr/>
        </p:nvSpPr>
        <p:spPr>
          <a:xfrm>
            <a:off x="3175200" y="3473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</a:rPr>
              <a:t>Weekly Meal Planner</a:t>
            </a:r>
          </a:p>
        </p:txBody>
      </p:sp>
      <p:sp>
        <p:nvSpPr>
          <p:cNvPr id="26" name="SolCardBBody"/>
          <p:cNvSpPr/>
          <p:nvPr/>
        </p:nvSpPr>
        <p:spPr>
          <a:xfrm>
            <a:off x="3175200" y="37479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</a:rPr>
              <a:t>Plan eco-friendly meals for the whole week. Saved locally — no account needed</a:t>
            </a:r>
          </a:p>
        </p:txBody>
      </p:sp>
      <p:sp>
        <p:nvSpPr>
          <p:cNvPr id="27" name="SolCardCBg"/>
          <p:cNvSpPr/>
          <p:nvPr/>
        </p:nvSpPr>
        <p:spPr>
          <a:xfrm>
            <a:off x="6027360" y="3062160"/>
            <a:ext cx="2835360" cy="19015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8" name="SolCardCEmoji"/>
          <p:cNvSpPr/>
          <p:nvPr/>
        </p:nvSpPr>
        <p:spPr>
          <a:xfrm>
            <a:off x="6027360" y="3107880"/>
            <a:ext cx="2835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latin typeface="Segoe UI Emoji" pitchFamily="34" charset="0"/>
              </a:rPr>
              <a:t>🔍</a:t>
            </a:r>
          </a:p>
        </p:txBody>
      </p:sp>
      <p:sp>
        <p:nvSpPr>
          <p:cNvPr id="29" name="SolCardCTitle"/>
          <p:cNvSpPr/>
          <p:nvPr/>
        </p:nvSpPr>
        <p:spPr>
          <a:xfrm>
            <a:off x="6027360" y="3473640"/>
            <a:ext cx="283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</a:rPr>
              <a:t>Smart Recipe Search</a:t>
            </a:r>
          </a:p>
        </p:txBody>
      </p:sp>
      <p:sp>
        <p:nvSpPr>
          <p:cNvPr id="30" name="SolCardCBody"/>
          <p:cNvSpPr/>
          <p:nvPr/>
        </p:nvSpPr>
        <p:spPr>
          <a:xfrm>
            <a:off x="6027360" y="3747960"/>
            <a:ext cx="28353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</a:rPr>
              <a:t>Search thousands of recipes and filter by the most sustainable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is Structured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846320" cy="56692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 Layer  —  screens/  ·  widgets/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846320" cy="56692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Logic Layer  —  providers/  (Riverpod)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846320" cy="5669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Service Layer  —  services/  (API calls)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48463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4320" y="27432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Layer  —  models/  (data structures)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401568"/>
            <a:ext cx="484632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74320" y="34015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Router  —  router/  (GoRouter navigation)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804672"/>
            <a:ext cx="3611880" cy="4133088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22392" y="969264"/>
            <a:ext cx="328269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Folder structure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models/      ←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services/    ← 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providers/   ← state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router/      ← nav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screens/     ← UI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widgets/     ← components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validators/  ← rules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           ← 36 tests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— Storing Recipe Data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0" cy="4133088"/>
          </a:xfrm>
          <a:prstGeom prst="roundRect">
            <a:avLst>
              <a:gd name="adj" fmla="val 177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38912" y="969264"/>
            <a:ext cx="424281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model classes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RecipeSummary — for lists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Recipe — full detail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MealPlan — weekly plan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RecipeSummary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final String id, name, url;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factory fromJson(Map json)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RecipeSummary(id: json['idMeal']);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Map toJson() =&gt; {'idMeal': id};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0" y="804672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29200" y="804672"/>
            <a:ext cx="38404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13892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38928" y="122529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thumbnailUrl. Used in lists and stored in MealPlan.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92024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029200" y="1920240"/>
            <a:ext cx="38404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138928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38928" y="234086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category, area, instructions, up to 20 ingredients, ecoScore.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3035808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029200" y="3035808"/>
            <a:ext cx="38404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138928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MealPlan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8928" y="34564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7 weekdays → RecipeSummary. withRecipe() returns immutable copy.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425196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2920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unit tests — fromJson, toJson, round-trip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— TheMealDB API</a:t>
            </a:r>
            <a:endParaRPr lang="en-US" sz="3300" dirty="0"/>
          </a:p>
        </p:txBody>
      </p:sp>
      <p:pic>
        <p:nvPicPr>
          <p:cNvPr id="5" name="Image 0" descr="C:\Users\yasas\Desktop\ecoplate\screenshots\03_recipe_detai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04672"/>
            <a:ext cx="2011680" cy="41330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87168" y="804672"/>
            <a:ext cx="3593592" cy="4133088"/>
          </a:xfrm>
          <a:prstGeom prst="roundRect">
            <a:avLst>
              <a:gd name="adj" fmla="val 203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651760" y="969264"/>
            <a:ext cx="326440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Eco scores by category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 and parse recipes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_scores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'Vegan':5, 'Vegetarian':4,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'Chicken':2, 'Beef':1,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Future&lt;List&gt; fetchByCategory(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String cat) async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final res = await http.get(url);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meals.map(fromJson)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.toList();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63640" y="804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API Endpoints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234440"/>
            <a:ext cx="26517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355080" y="1325880"/>
            <a:ext cx="420624" cy="237744"/>
          </a:xfrm>
          <a:prstGeom prst="roundRect">
            <a:avLst>
              <a:gd name="adj" fmla="val 230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355080" y="132588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48856" y="1325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/filter.php?c={cat}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55080" y="1655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— recipes by category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63640" y="2121408"/>
            <a:ext cx="26517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355080" y="2212848"/>
            <a:ext cx="420624" cy="237744"/>
          </a:xfrm>
          <a:prstGeom prst="roundRect">
            <a:avLst>
              <a:gd name="adj" fmla="val 230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355080" y="221284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48856" y="221284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/lookup.php?i={id}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355080" y="2542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— full recipe by ID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63640" y="3008376"/>
            <a:ext cx="26517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355080" y="3099816"/>
            <a:ext cx="420624" cy="237744"/>
          </a:xfrm>
          <a:prstGeom prst="roundRect">
            <a:avLst>
              <a:gd name="adj" fmla="val 230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355080" y="309981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48856" y="30998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/search.php?s={q}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5508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find by name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63640" y="3858768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35508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Score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55080" y="42062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score 1–5. Injected into Recipe.fromJson()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Screen — Infinite Scroll Pagination</a:t>
            </a:r>
            <a:endParaRPr lang="en-US" sz="3300" dirty="0"/>
          </a:p>
        </p:txBody>
      </p:sp>
      <p:pic>
        <p:nvPicPr>
          <p:cNvPr id="5" name="Image 0" descr="C:\Users\yasas\Desktop\ecoplate\screenshots\01_brows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04672"/>
            <a:ext cx="2011680" cy="41330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87168" y="804672"/>
            <a:ext cx="3502152" cy="4133088"/>
          </a:xfrm>
          <a:prstGeom prst="roundRect">
            <a:avLst>
              <a:gd name="adj" fmla="val 20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651760" y="969264"/>
            <a:ext cx="317296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Detect near-bottom scroll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_onScroll()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if (pixels &gt;= maxExtent - 200)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notifier.loadMore();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Slice next 10 from cached list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_displayed = _all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.take(shown + 10).toList();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AsyncData(_displayed);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72200" y="8046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Pagination Works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188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1722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56248" y="1207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recipes from API once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17220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56248" y="1847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first 10 on screen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24688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17220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56248" y="2487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near bottom → trigger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3108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1722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56248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.take(n+10) slices next page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37490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172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56248" y="37673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AsyncData → UI rebuilds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Widgets — RecipeCard &amp; EcoBadge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RecipeCard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38912" y="1307592"/>
            <a:ext cx="3831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Card with image + eco badge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Card(clipBehavior: Clip.antiAlias,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child: InkWell(onTap: onTap,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child: Column([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AspectRatio(16/9,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CachedNetworkImage(...)),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EcoBadge(score: ecoScore),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30632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401568"/>
            <a:ext cx="4160520" cy="1536192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8912" y="3566160"/>
            <a:ext cx="3831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 1–5 → color + label + dots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get _color =&gt; score &gt;=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? Colors.green.shade700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: score &gt;= 2 ? Colors.orange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: Colors.red;</a:t>
            </a:r>
            <a:endParaRPr lang="en-US" sz="1050" dirty="0"/>
          </a:p>
        </p:txBody>
      </p:sp>
      <p:pic>
        <p:nvPicPr>
          <p:cNvPr id="11" name="Image 0" descr="C:\Users\yasas\Desktop\ecoplate\screenshots\02_browse_vega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804672"/>
            <a:ext cx="1828800" cy="3246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0" y="804672"/>
            <a:ext cx="2331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583680" y="804672"/>
            <a:ext cx="64008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720840" y="8595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20840" y="11155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for rounded image corners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83680" y="1472184"/>
            <a:ext cx="2331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583680" y="1472184"/>
            <a:ext cx="64008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720840" y="15270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AspectRatio 16:9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20840" y="17830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card height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583680" y="2139696"/>
            <a:ext cx="2331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583680" y="2139696"/>
            <a:ext cx="64008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720840" y="21945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CachedNetworkImage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20840" y="245059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+ error fallback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583680" y="2807208"/>
            <a:ext cx="2331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583680" y="2807208"/>
            <a:ext cx="64008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720840" y="286207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InkWell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720840" y="31181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tap effect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583680" y="3474720"/>
            <a:ext cx="2331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6583680" y="3474720"/>
            <a:ext cx="64008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6720840" y="35295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EcoBadge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720840" y="378561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eco score widget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663440" y="413308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754880" y="4187952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5● Excellent  4● Great  3● Good  2● Fair  1● Low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— Riverpod 3.x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914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RecipeListNotifier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AsyncNotifierProvider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256032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auto-rebuilds on change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ref.watch(selectedCategory)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AsyncData/Loading/Error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2112" y="804672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82112" y="804672"/>
            <a:ext cx="27432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91840" y="914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MealPlanNotifier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188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NotifierProvider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73552" y="1426464"/>
            <a:ext cx="256032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46704" y="148132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saves to SharedPrefs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state.withRecipe()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UI updates instantly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3328" y="804672"/>
            <a:ext cx="2834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53328" y="804672"/>
            <a:ext cx="283464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63056" y="914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ThemeNotifier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3056" y="1188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NotifierProvider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4768" y="1426464"/>
            <a:ext cx="265176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217920" y="1481328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drives app theme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ref.watch(themeProvider)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ThemeMode.dark/.light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670048"/>
            <a:ext cx="8641080" cy="2304288"/>
          </a:xfrm>
          <a:prstGeom prst="roundRect">
            <a:avLst>
              <a:gd name="adj" fmla="val 317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38912" y="2834640"/>
            <a:ext cx="83118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ref.watch() → subscribes, widget rebuilds on state change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ref.read()  → one-shot access inside callbacks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recipesAsync.when(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data:    (list) =&gt; RecipeList(...),  // ✅ show data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loading: ()     =&gt; Spinner(),        // ⏳ loading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error:   (e, _) =&gt; RetryButton(),    // ❌ show error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Screen — Input Validation</a:t>
            </a:r>
            <a:endParaRPr lang="en-US" sz="3300" dirty="0"/>
          </a:p>
        </p:txBody>
      </p:sp>
      <p:pic>
        <p:nvPicPr>
          <p:cNvPr id="5" name="Image 0" descr="C:\Users\yasas\Desktop\ecoplate\screenshots\04_search_validat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04672"/>
            <a:ext cx="1920240" cy="2011680"/>
          </a:xfrm>
          <a:prstGeom prst="rect">
            <a:avLst/>
          </a:prstGeom>
        </p:spPr>
      </p:pic>
      <p:pic>
        <p:nvPicPr>
          <p:cNvPr id="6" name="Image 1" descr="C:\Users\yasas\Desktop\ecoplate\screenshots\04_search_result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2926080"/>
            <a:ext cx="192024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77440" y="804672"/>
            <a:ext cx="3703320" cy="4133088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2542032" y="969264"/>
            <a:ext cx="337413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validators/search_validator.dart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Pure function, NOT inside widget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validateSearch(String? v)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 == null || v.isEmpty)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'Enter a search term';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(v.length &lt; 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'Min 2 characters';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(v.length &gt; 50)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'Max 50 characters';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null; // ✅ valid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TextFormField(validator: validateSearch)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63640" y="804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outside the widget?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188720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6373368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373368" y="15910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BuildContext. Returns null=valid, String=error.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63640" y="2121408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6373368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Testable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373368" y="25237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tests: empty, short, long, special chars.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63640" y="3054096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6373368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autoDispose.family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73368" y="3456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Disposes on leave. Each query = own provider.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63640" y="402336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6263640" y="40233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tests — all passing 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Planner — State &amp; Persistence</a:t>
            </a:r>
            <a:endParaRPr lang="en-US" sz="3300" dirty="0"/>
          </a:p>
        </p:txBody>
      </p:sp>
      <p:pic>
        <p:nvPicPr>
          <p:cNvPr id="5" name="Image 0" descr="C:\Users\yasas\Desktop\ecoplate\screenshots\05_meal_plann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04672"/>
            <a:ext cx="2011680" cy="41330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87168" y="804672"/>
            <a:ext cx="3456432" cy="1938528"/>
          </a:xfrm>
          <a:prstGeom prst="roundRect">
            <a:avLst>
              <a:gd name="adj" fmla="val 3774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2651760" y="969264"/>
            <a:ext cx="31272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recipe for a day + save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setRecipe(day, r) async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state = state.withRecipe(day, 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await _persist();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prefs.setString(key, jsonEncode(map));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87168" y="2834640"/>
            <a:ext cx="3456432" cy="2103120"/>
          </a:xfrm>
          <a:prstGeom prst="roundRect">
            <a:avLst>
              <a:gd name="adj" fmla="val 347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651760" y="2999232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Bottom sheet recipe picker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showModalBottomSheet(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builder: (_)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DraggableScrollableSheet(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initialChildSize: 0.85,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builder: (ctx, scroll)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RecipePickerSheet(day: day)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6480" y="804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188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12648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10528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➕ → bottom sheet opens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18105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1264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10528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recipes by name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24323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12648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10528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→ assigned to that day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30540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12648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10528" y="3072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 → UI rebuilds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26480" y="36758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12648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10528" y="36941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JSON to device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26480" y="4315968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21792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Persists Between Sessions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0" y="4608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from SharedPreferences on startup.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Theme &amp; SharedPreferences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343400" cy="4133088"/>
          </a:xfrm>
          <a:prstGeom prst="roundRect">
            <a:avLst>
              <a:gd name="adj" fmla="val 177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38912" y="969264"/>
            <a:ext cx="401421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theme on startup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ThemeMode build() =&gt;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prefs.getBool('is_dark') ==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? ThemeMode.dark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: ThemeMode.light;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Toggle and save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toggle() async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state = isDark ? light : dark;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prefs.setBool('is_dark', !isDark);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MaterialApp reacts automatically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MaterialApp.router(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themeMode: ref.watch(themeProvider),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pic>
        <p:nvPicPr>
          <p:cNvPr id="7" name="Image 0" descr="C:\Users\yasas\Desktop\ecoplate\screenshots\06_setting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804672"/>
            <a:ext cx="1874520" cy="3337560"/>
          </a:xfrm>
          <a:prstGeom prst="rect">
            <a:avLst/>
          </a:prstGeom>
        </p:spPr>
      </p:pic>
      <p:pic>
        <p:nvPicPr>
          <p:cNvPr id="8" name="Image 1" descr="C:\Users\yasas\Desktop\ecoplate\screenshots\07_dark_mod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66560" y="804672"/>
            <a:ext cx="2057400" cy="3337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00600" y="422452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892040" y="42702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initialized in main() before runApp — ThemeNotifier.build() reads it synchronously, no async needed.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 w="12700">
            <a:solidFill>
              <a:srgbClr val="F0F7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36 Tests, All Passing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7432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670048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test/models/recipe_test.dart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fromJson parses all fields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toJson → fromJson round-trip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ingredient slots parsed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 slots filtered 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224028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82112" y="2240280"/>
            <a:ext cx="27432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82112" y="2240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Validators &amp; Services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670048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search_validator_test.dart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null/empty/short → error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long/special chars → error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 input → null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recipe_service_test.dart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Vegan=5, Beef=1 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53328" y="2240280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53328" y="2240280"/>
            <a:ext cx="283464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53328" y="2240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2670048"/>
            <a:ext cx="26151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recipe_card_test.dart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RecipeCard renders name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EcoBadge shown/hidden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onTap fires correctly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labels correct 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641080" cy="320040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74320" y="466344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flutter test     →     ✅  All 36 tests passed.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ve 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Decor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97BC62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MainTitle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</a:rPr>
              <a:t>Live Demo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</a:rPr>
              <a:t>See EcoPlate in action</a:t>
            </a:r>
          </a:p>
        </p:txBody>
      </p:sp>
      <p:sp>
        <p:nvSpPr>
          <p:cNvPr id="6" name="ChecklistBox"/>
          <p:cNvSpPr/>
          <p:nvPr/>
        </p:nvSpPr>
        <p:spPr>
          <a:xfrm>
            <a:off x="1828800" y="2103120"/>
            <a:ext cx="5486400" cy="26064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ChecklistItems"/>
          <p:cNvSpPr/>
          <p:nvPr/>
        </p:nvSpPr>
        <p:spPr>
          <a:xfrm>
            <a:off x="2103120" y="2194560"/>
            <a:ext cx="4937760" cy="2423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</a:rPr>
              <a:t xml:space="preserve">1.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Browse recipes by eco category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</a:rPr>
              <a:t xml:space="preserve">2.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Check the Eco Score on recipe cards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</a:rPr>
              <a:t xml:space="preserve">3.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Open a recipe for full details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</a:rPr>
              <a:t xml:space="preserve">4.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Search for a specific recipe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</a:rPr>
              <a:t xml:space="preserve">5.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Add a recipe to the Meal Planner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</a:rPr>
              <a:t xml:space="preserve">6.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Toggle Dark Mode in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675120" y="-548640"/>
            <a:ext cx="2743200" cy="2743200"/>
          </a:xfrm>
          <a:prstGeom prst="ellipse">
            <a:avLst/>
          </a:prstGeom>
          <a:solidFill>
            <a:srgbClr val="97BC62">
              <a:alpha val="12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2084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450592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Layered Flutter architecture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Riverpod 3.x (Notifier + AsyncNotifier)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GoRouter named navigation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TheMealDB REST API integration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Infinite scroll pagination (+5 bonus)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Input validation — pure function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SharedPreferences persistence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36 unit &amp; widget tests passing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6344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github.com/yasaswijethunga/Meal-Planner-App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3182112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Yasas Wijethunga — TAMK, Finland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Waruna Bandara Rathnamalala — TAMK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 Maligaspe — TAMK, Finland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Frei — THWS, Germany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out Eco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eftBorde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365760" y="164592"/>
            <a:ext cx="850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</a:rPr>
              <a:t>About EcoPlate</a:t>
            </a:r>
          </a:p>
        </p:txBody>
      </p:sp>
      <p:sp>
        <p:nvSpPr>
          <p:cNvPr id="5" name="LabelWhatIs"/>
          <p:cNvSpPr/>
          <p:nvPr/>
        </p:nvSpPr>
        <p:spPr>
          <a:xfrm>
            <a:off x="274320" y="80467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</a:rPr>
              <a:t>What is EcoPlate?</a:t>
            </a:r>
          </a:p>
        </p:txBody>
      </p:sp>
      <p:sp>
        <p:nvSpPr>
          <p:cNvPr id="6" name="DescCardBg"/>
          <p:cNvSpPr/>
          <p:nvPr/>
        </p:nvSpPr>
        <p:spPr>
          <a:xfrm>
            <a:off x="274320" y="1207008"/>
            <a:ext cx="4206240" cy="14173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DescCardText"/>
          <p:cNvSpPr/>
          <p:nvPr/>
        </p:nvSpPr>
        <p:spPr>
          <a:xfrm>
            <a:off x="411480" y="1298880"/>
            <a:ext cx="3932640" cy="1234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</a:rPr>
              <a:t>EcoPlate is a Flutter mobile app that helps users discover eco-friendly recipes, understand the environmental impact of their food choices, and plan sustainable weekly meals — all in one place.</a:t>
            </a:r>
          </a:p>
        </p:txBody>
      </p:sp>
      <p:sp>
        <p:nvSpPr>
          <p:cNvPr id="8" name="LabelWhy"/>
          <p:cNvSpPr/>
          <p:nvPr/>
        </p:nvSpPr>
        <p:spPr>
          <a:xfrm>
            <a:off x="274320" y="274320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</a:rPr>
              <a:t>Why We Chose This Topic</a:t>
            </a:r>
          </a:p>
        </p:txBody>
      </p:sp>
      <p:sp>
        <p:nvSpPr>
          <p:cNvPr id="9" name="ReasonsCardBg"/>
          <p:cNvSpPr/>
          <p:nvPr/>
        </p:nvSpPr>
        <p:spPr>
          <a:xfrm>
            <a:off x="274320" y="3145056"/>
            <a:ext cx="4206240" cy="181051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asonsCardText"/>
          <p:cNvSpPr/>
          <p:nvPr/>
        </p:nvSpPr>
        <p:spPr>
          <a:xfrm>
            <a:off x="411480" y="3236928"/>
            <a:ext cx="3932640" cy="1627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</a:rPr>
              <a:t>• Food production causes 26% of global CO₂ emissions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</a:rPr>
              <a:t>• Plant-based diets reduce carbon footprint by up to 73%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</a:rPr>
              <a:t>• People want sustainable choices but lack easy tools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</a:rPr>
              <a:t>• Combines environmental awareness with practical daily use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</a:rPr>
              <a:t>• Technically challenging — covers all required Flutter features</a:t>
            </a:r>
          </a:p>
        </p:txBody>
      </p:sp>
      <p:sp>
        <p:nvSpPr>
          <p:cNvPr id="11" name="LabelKeyFeatures"/>
          <p:cNvSpPr/>
          <p:nvPr/>
        </p:nvSpPr>
        <p:spPr>
          <a:xfrm>
            <a:off x="4709160" y="80467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</a:rPr>
              <a:t>Key Features</a:t>
            </a:r>
          </a:p>
        </p:txBody>
      </p:sp>
      <p:sp>
        <p:nvSpPr>
          <p:cNvPr id="12" name="FeatRow1Bg"/>
          <p:cNvSpPr/>
          <p:nvPr/>
        </p:nvSpPr>
        <p:spPr>
          <a:xfrm>
            <a:off x="4709160" y="1207008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FeatRow1Text"/>
          <p:cNvSpPr/>
          <p:nvPr/>
        </p:nvSpPr>
        <p:spPr>
          <a:xfrm>
            <a:off x="4800600" y="12527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Segoe UI Emoji" pitchFamily="34" charset="0"/>
              </a:rPr>
              <a:t>🌿 Eco Score System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 xml:space="preserve"> — 1 to 5 leaf rating per food category</a:t>
            </a:r>
          </a:p>
        </p:txBody>
      </p:sp>
      <p:sp>
        <p:nvSpPr>
          <p:cNvPr id="14" name="FeatRow2Bg"/>
          <p:cNvSpPr/>
          <p:nvPr/>
        </p:nvSpPr>
        <p:spPr>
          <a:xfrm>
            <a:off x="4709160" y="1938528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FeatRow2Text"/>
          <p:cNvSpPr/>
          <p:nvPr/>
        </p:nvSpPr>
        <p:spPr>
          <a:xfrm>
            <a:off x="4800600" y="198424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Segoe UI Emoji" pitchFamily="34" charset="0"/>
              </a:rPr>
              <a:t>📋 Recipe Browsing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 xml:space="preserve"> — Categories with infinite scroll pagination</a:t>
            </a:r>
          </a:p>
        </p:txBody>
      </p:sp>
      <p:sp>
        <p:nvSpPr>
          <p:cNvPr id="16" name="FeatRow3Bg"/>
          <p:cNvSpPr/>
          <p:nvPr/>
        </p:nvSpPr>
        <p:spPr>
          <a:xfrm>
            <a:off x="4709160" y="2670048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FeatRow3Text"/>
          <p:cNvSpPr/>
          <p:nvPr/>
        </p:nvSpPr>
        <p:spPr>
          <a:xfrm>
            <a:off x="4800600" y="271576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Segoe UI Emoji" pitchFamily="34" charset="0"/>
              </a:rPr>
              <a:t>🔍 Smart Search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 xml:space="preserve"> — Live search with input validation</a:t>
            </a:r>
          </a:p>
        </p:txBody>
      </p:sp>
      <p:sp>
        <p:nvSpPr>
          <p:cNvPr id="18" name="FeatRow4Bg"/>
          <p:cNvSpPr/>
          <p:nvPr/>
        </p:nvSpPr>
        <p:spPr>
          <a:xfrm>
            <a:off x="4709160" y="3401568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FeatRow4Text"/>
          <p:cNvSpPr/>
          <p:nvPr/>
        </p:nvSpPr>
        <p:spPr>
          <a:xfrm>
            <a:off x="4800600" y="344728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Segoe UI Emoji" pitchFamily="34" charset="0"/>
              </a:rPr>
              <a:t>📅 Weekly Meal Planner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 xml:space="preserve"> — Plan meals, saved to device storage</a:t>
            </a:r>
          </a:p>
        </p:txBody>
      </p:sp>
      <p:sp>
        <p:nvSpPr>
          <p:cNvPr id="20" name="FeatRow5Bg"/>
          <p:cNvSpPr/>
          <p:nvPr/>
        </p:nvSpPr>
        <p:spPr>
          <a:xfrm>
            <a:off x="4709160" y="4133088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FeatRow5Text"/>
          <p:cNvSpPr/>
          <p:nvPr/>
        </p:nvSpPr>
        <p:spPr>
          <a:xfrm>
            <a:off x="4800600" y="417880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Segoe UI Emoji" pitchFamily="34" charset="0"/>
              </a:rPr>
              <a:t>🌙 Dark / Light Mode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 xml:space="preserve"> — Toggle saved in SharedPreferences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eftBorde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365760" y="164592"/>
            <a:ext cx="850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C5F2D"/>
                </a:solidFill>
                <a:latin typeface="Calibri" pitchFamily="34" charset="0"/>
              </a:rPr>
              <a:t>Agenda</a:t>
            </a:r>
          </a:p>
        </p:txBody>
      </p:sp>
      <p:sp>
        <p:nvSpPr>
          <p:cNvPr id="5" name="Item1Bg"/>
          <p:cNvSpPr/>
          <p:nvPr/>
        </p:nvSpPr>
        <p:spPr>
          <a:xfrm>
            <a:off x="274320" y="80467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Item1Pill"/>
          <p:cNvSpPr/>
          <p:nvPr/>
        </p:nvSpPr>
        <p:spPr>
          <a:xfrm>
            <a:off x="319320" y="95083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7" name="Item1Text"/>
          <p:cNvSpPr/>
          <p:nvPr/>
        </p:nvSpPr>
        <p:spPr>
          <a:xfrm>
            <a:off x="740520" y="84751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About EcoPlate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What it is &amp; why we built it</a:t>
            </a:r>
          </a:p>
        </p:txBody>
      </p:sp>
      <p:sp>
        <p:nvSpPr>
          <p:cNvPr id="8" name="Item2Bg"/>
          <p:cNvSpPr/>
          <p:nvPr/>
        </p:nvSpPr>
        <p:spPr>
          <a:xfrm>
            <a:off x="274320" y="153619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Item2Pill"/>
          <p:cNvSpPr/>
          <p:nvPr/>
        </p:nvSpPr>
        <p:spPr>
          <a:xfrm>
            <a:off x="319320" y="168235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0" name="Item2Text"/>
          <p:cNvSpPr/>
          <p:nvPr/>
        </p:nvSpPr>
        <p:spPr>
          <a:xfrm>
            <a:off x="740520" y="157903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App Architecture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Layered folder structure</a:t>
            </a:r>
          </a:p>
        </p:txBody>
      </p:sp>
      <p:sp>
        <p:nvSpPr>
          <p:cNvPr id="11" name="Item3Bg"/>
          <p:cNvSpPr/>
          <p:nvPr/>
        </p:nvSpPr>
        <p:spPr>
          <a:xfrm>
            <a:off x="274320" y="226771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Item3Pill"/>
          <p:cNvSpPr/>
          <p:nvPr/>
        </p:nvSpPr>
        <p:spPr>
          <a:xfrm>
            <a:off x="319320" y="241387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13" name="Item3Text"/>
          <p:cNvSpPr/>
          <p:nvPr/>
        </p:nvSpPr>
        <p:spPr>
          <a:xfrm>
            <a:off x="740520" y="231055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Data Models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Recipe, MealPlan classes</a:t>
            </a:r>
          </a:p>
        </p:txBody>
      </p:sp>
      <p:sp>
        <p:nvSpPr>
          <p:cNvPr id="14" name="Item4Bg"/>
          <p:cNvSpPr/>
          <p:nvPr/>
        </p:nvSpPr>
        <p:spPr>
          <a:xfrm>
            <a:off x="274320" y="299923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Item4Pill"/>
          <p:cNvSpPr/>
          <p:nvPr/>
        </p:nvSpPr>
        <p:spPr>
          <a:xfrm>
            <a:off x="319320" y="314539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16" name="Item4Text"/>
          <p:cNvSpPr/>
          <p:nvPr/>
        </p:nvSpPr>
        <p:spPr>
          <a:xfrm>
            <a:off x="740520" y="304207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API Service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TheMealDB integration</a:t>
            </a:r>
          </a:p>
        </p:txBody>
      </p:sp>
      <p:sp>
        <p:nvSpPr>
          <p:cNvPr id="17" name="Item5Bg"/>
          <p:cNvSpPr/>
          <p:nvPr/>
        </p:nvSpPr>
        <p:spPr>
          <a:xfrm>
            <a:off x="274320" y="373075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Item5Pill"/>
          <p:cNvSpPr/>
          <p:nvPr/>
        </p:nvSpPr>
        <p:spPr>
          <a:xfrm>
            <a:off x="319320" y="387691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19" name="Item5Text"/>
          <p:cNvSpPr/>
          <p:nvPr/>
        </p:nvSpPr>
        <p:spPr>
          <a:xfrm>
            <a:off x="740520" y="377359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Browse &amp; Pagination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Infinite scroll (+5 bonus)</a:t>
            </a:r>
          </a:p>
        </p:txBody>
      </p:sp>
      <p:sp>
        <p:nvSpPr>
          <p:cNvPr id="20" name="Item6Bg"/>
          <p:cNvSpPr/>
          <p:nvPr/>
        </p:nvSpPr>
        <p:spPr>
          <a:xfrm>
            <a:off x="274320" y="446227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Item6Pill"/>
          <p:cNvSpPr/>
          <p:nvPr/>
        </p:nvSpPr>
        <p:spPr>
          <a:xfrm>
            <a:off x="319320" y="460843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22" name="Item6Text"/>
          <p:cNvSpPr/>
          <p:nvPr/>
        </p:nvSpPr>
        <p:spPr>
          <a:xfrm>
            <a:off x="740520" y="450511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Custom Widgets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RecipeCard, EcoBadge</a:t>
            </a:r>
          </a:p>
        </p:txBody>
      </p:sp>
      <p:sp>
        <p:nvSpPr>
          <p:cNvPr id="23" name="Item7Bg"/>
          <p:cNvSpPr/>
          <p:nvPr/>
        </p:nvSpPr>
        <p:spPr>
          <a:xfrm>
            <a:off x="4709160" y="80467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Item7Pill"/>
          <p:cNvSpPr/>
          <p:nvPr/>
        </p:nvSpPr>
        <p:spPr>
          <a:xfrm>
            <a:off x="4754160" y="95083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07</a:t>
            </a:r>
          </a:p>
        </p:txBody>
      </p:sp>
      <p:sp>
        <p:nvSpPr>
          <p:cNvPr id="25" name="Item7Text"/>
          <p:cNvSpPr/>
          <p:nvPr/>
        </p:nvSpPr>
        <p:spPr>
          <a:xfrm>
            <a:off x="5175360" y="84751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State Management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Riverpod 3.x providers</a:t>
            </a:r>
          </a:p>
        </p:txBody>
      </p:sp>
      <p:sp>
        <p:nvSpPr>
          <p:cNvPr id="26" name="Item8Bg"/>
          <p:cNvSpPr/>
          <p:nvPr/>
        </p:nvSpPr>
        <p:spPr>
          <a:xfrm>
            <a:off x="4709160" y="153619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Item8Pill"/>
          <p:cNvSpPr/>
          <p:nvPr/>
        </p:nvSpPr>
        <p:spPr>
          <a:xfrm>
            <a:off x="4754160" y="168235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08</a:t>
            </a:r>
          </a:p>
        </p:txBody>
      </p:sp>
      <p:sp>
        <p:nvSpPr>
          <p:cNvPr id="28" name="Item8Text"/>
          <p:cNvSpPr/>
          <p:nvPr/>
        </p:nvSpPr>
        <p:spPr>
          <a:xfrm>
            <a:off x="5175360" y="157903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Search &amp; Validation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Input validator function</a:t>
            </a:r>
          </a:p>
        </p:txBody>
      </p:sp>
      <p:sp>
        <p:nvSpPr>
          <p:cNvPr id="29" name="Item9Bg"/>
          <p:cNvSpPr/>
          <p:nvPr/>
        </p:nvSpPr>
        <p:spPr>
          <a:xfrm>
            <a:off x="4709160" y="226771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Item9Pill"/>
          <p:cNvSpPr/>
          <p:nvPr/>
        </p:nvSpPr>
        <p:spPr>
          <a:xfrm>
            <a:off x="4754160" y="241387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09</a:t>
            </a:r>
          </a:p>
        </p:txBody>
      </p:sp>
      <p:sp>
        <p:nvSpPr>
          <p:cNvPr id="31" name="Item9Text"/>
          <p:cNvSpPr/>
          <p:nvPr/>
        </p:nvSpPr>
        <p:spPr>
          <a:xfrm>
            <a:off x="5175360" y="231055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Meal Planner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Weekly planning &amp; persistence</a:t>
            </a:r>
          </a:p>
        </p:txBody>
      </p:sp>
      <p:sp>
        <p:nvSpPr>
          <p:cNvPr id="32" name="Item10Bg"/>
          <p:cNvSpPr/>
          <p:nvPr/>
        </p:nvSpPr>
        <p:spPr>
          <a:xfrm>
            <a:off x="4709160" y="299923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Item10Pill"/>
          <p:cNvSpPr/>
          <p:nvPr/>
        </p:nvSpPr>
        <p:spPr>
          <a:xfrm>
            <a:off x="4754160" y="314539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34" name="Item10Text"/>
          <p:cNvSpPr/>
          <p:nvPr/>
        </p:nvSpPr>
        <p:spPr>
          <a:xfrm>
            <a:off x="5175360" y="304207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Settings &amp; Dark Mode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Theme with SharedPreferences</a:t>
            </a:r>
          </a:p>
        </p:txBody>
      </p:sp>
      <p:sp>
        <p:nvSpPr>
          <p:cNvPr id="35" name="Item11Bg"/>
          <p:cNvSpPr/>
          <p:nvPr/>
        </p:nvSpPr>
        <p:spPr>
          <a:xfrm>
            <a:off x="4709160" y="373075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Item11Pill"/>
          <p:cNvSpPr/>
          <p:nvPr/>
        </p:nvSpPr>
        <p:spPr>
          <a:xfrm>
            <a:off x="4754160" y="387691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37" name="Item11Text"/>
          <p:cNvSpPr/>
          <p:nvPr/>
        </p:nvSpPr>
        <p:spPr>
          <a:xfrm>
            <a:off x="5175360" y="377359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Testing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36 unit &amp; widget tests</a:t>
            </a:r>
          </a:p>
        </p:txBody>
      </p:sp>
      <p:sp>
        <p:nvSpPr>
          <p:cNvPr id="38" name="Item12Bg"/>
          <p:cNvSpPr/>
          <p:nvPr/>
        </p:nvSpPr>
        <p:spPr>
          <a:xfrm>
            <a:off x="4709160" y="4462272"/>
            <a:ext cx="4206240" cy="65836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Item12Pill"/>
          <p:cNvSpPr/>
          <p:nvPr/>
        </p:nvSpPr>
        <p:spPr>
          <a:xfrm>
            <a:off x="4754160" y="4608432"/>
            <a:ext cx="384048" cy="2743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40" name="Item12Text"/>
          <p:cNvSpPr/>
          <p:nvPr/>
        </p:nvSpPr>
        <p:spPr>
          <a:xfrm>
            <a:off x="5175360" y="4505112"/>
            <a:ext cx="36948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Live Demo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</a:rPr>
              <a:t>App 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1519</Words>
  <Application>Microsoft Office PowerPoint</Application>
  <PresentationFormat>On-screen Show (16:9)</PresentationFormat>
  <Paragraphs>294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EcoPlate — Eco-Friendly Recipe &amp; Meal Planner</dc:title>
  <dc:subject>PptxGenJS Presentation</dc:subject>
  <dc:creator>Yasas Wijethunga</dc:creator>
  <cp:lastModifiedBy>Yasas Wijethunga</cp:lastModifiedBy>
  <cp:revision>2</cp:revision>
  <dcterms:created xsi:type="dcterms:W3CDTF">2026-05-29T21:01:55Z</dcterms:created>
  <dcterms:modified xsi:type="dcterms:W3CDTF">2026-05-29T21:16:56Z</dcterms:modified>
</cp:coreProperties>
</file>